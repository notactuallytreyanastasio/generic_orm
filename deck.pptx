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0" b="1" i="0">
                <a:solidFill>
                  <a:srgbClr val="000000"/>
                </a:solidFill>
                <a:latin typeface="Helvetica Neue"/>
              </a:rPr>
              <a:t>Temper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0" i="0">
                <a:solidFill>
                  <a:srgbClr val="999999"/>
                </a:solidFill>
                <a:latin typeface="Helvetica Neue"/>
              </a:rPr>
              <a:t>Write Once, Secure Everywhere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AAAAAA"/>
                </a:solidFill>
                <a:latin typeface="Helvetica Neue"/>
              </a:rPr>
              <a:t>A cross-compiled language for security-critical infrastructure at scale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3787" y="4754880"/>
            <a:ext cx="1325880" cy="3474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999999"/>
                </a:solidFill>
                <a:latin typeface="Helvetica Neue"/>
              </a:rPr>
              <a:t>JavaScript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06827" y="4754880"/>
            <a:ext cx="1325880" cy="3474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999999"/>
                </a:solidFill>
                <a:latin typeface="Helvetica Neue"/>
              </a:rPr>
              <a:t>Python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69867" y="4754880"/>
            <a:ext cx="1325880" cy="3474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999999"/>
                </a:solidFill>
                <a:latin typeface="Helvetica Neue"/>
              </a:rPr>
              <a:t>Rust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32907" y="4754880"/>
            <a:ext cx="1325880" cy="3474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999999"/>
                </a:solidFill>
                <a:latin typeface="Helvetica Neue"/>
              </a:rPr>
              <a:t>Java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95947" y="4754880"/>
            <a:ext cx="1325880" cy="3474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999999"/>
                </a:solidFill>
                <a:latin typeface="Helvetica Neue"/>
              </a:rPr>
              <a:t>Lua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58987" y="4754880"/>
            <a:ext cx="1325880" cy="3474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999999"/>
                </a:solidFill>
                <a:latin typeface="Helvetica Neue"/>
              </a:rPr>
              <a:t>C#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2027" y="4754880"/>
            <a:ext cx="1325880" cy="3474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999999"/>
                </a:solidFill>
                <a:latin typeface="Helvetica Neue"/>
              </a:rPr>
              <a:t>and more to come...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99999"/>
                </a:solidFill>
                <a:latin typeface="Helvetica Neue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11111"/>
                </a:solidFill>
                <a:latin typeface="Helvetica Neue"/>
              </a:rPr>
              <a:t>SDK maintenance at scale is a security crisis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8087" y="182880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000000"/>
                </a:solidFill>
                <a:latin typeface="Helvetica Neue"/>
              </a:rPr>
              <a:t>3,600+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999999"/>
                </a:solidFill>
                <a:latin typeface="Helvetica Neue"/>
              </a:rPr>
              <a:t>AWS service client
libraries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9927" y="182880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000000"/>
                </a:solidFill>
                <a:latin typeface="Helvetica Neue"/>
              </a:rPr>
              <a:t>12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999999"/>
                </a:solidFill>
                <a:latin typeface="Helvetica Neue"/>
              </a:rPr>
              <a:t>language
targets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1767" y="182880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000000"/>
                </a:solidFill>
                <a:latin typeface="Helvetica Neue"/>
              </a:rPr>
              <a:t>156K+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999999"/>
                </a:solidFill>
                <a:latin typeface="Helvetica Neue"/>
              </a:rPr>
              <a:t>operation
implementations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555555"/>
                </a:solidFill>
                <a:latin typeface="Helvetica Neue"/>
              </a:rPr>
              <a:t/>
            </a:r>
            <a:r>
              <a:rPr sz="1600" b="0" i="0">
                <a:solidFill>
                  <a:srgbClr val="555555"/>
                </a:solidFill>
                <a:latin typeface="Helvetica Neue"/>
              </a:rPr>
              <a:t>A single vulnerability in serialization logic must be patched </a:t>
            </a:r>
            <a:r>
              <a:rPr sz="1600" b="1" i="0">
                <a:solidFill>
                  <a:srgbClr val="000000"/>
                </a:solidFill>
                <a:latin typeface="Helvetica Neue"/>
              </a:rPr>
              <a:t>independently in every language</a:t>
            </a:r>
            <a:r>
              <a:rPr sz="1600" b="0" i="0">
                <a:solidFill>
                  <a:srgbClr val="555555"/>
                </a:solidFill>
                <a:latin typeface="Helvetica Neue"/>
              </a:rPr>
              <a:t>. The Java SDK v1→v2 migration spanned </a:t>
            </a:r>
            <a:r>
              <a:rPr sz="1600" b="1" i="0">
                <a:solidFill>
                  <a:srgbClr val="000000"/>
                </a:solidFill>
                <a:latin typeface="Helvetica Neue"/>
              </a:rPr>
              <a:t>7 years</a:t>
            </a:r>
            <a:r>
              <a:rPr sz="1600" b="0" i="0">
                <a:solidFill>
                  <a:srgbClr val="555555"/>
                </a:solidFill>
                <a:latin typeface="Helvetica Neue"/>
              </a:rPr>
              <a:t>. Three major SDKs hit end-of-support in 2025 — </a:t>
            </a:r>
            <a:r>
              <a:rPr sz="1600" b="1" i="0">
                <a:solidFill>
                  <a:srgbClr val="000000"/>
                </a:solidFill>
                <a:latin typeface="Helvetica Neue"/>
              </a:rPr>
              <a:t>zero security patches after cutoff</a:t>
            </a:r>
            <a:r>
              <a:rPr sz="1600" b="0" i="0">
                <a:solidFill>
                  <a:srgbClr val="555555"/>
                </a:solidFill>
                <a:latin typeface="Helvetica Neue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891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555555"/>
                </a:solidFill>
                <a:latin typeface="Helvetica Neue"/>
              </a:rPr>
              <a:t/>
            </a:r>
            <a:r>
              <a:rPr sz="1600" b="0" i="0">
                <a:solidFill>
                  <a:srgbClr val="555555"/>
                </a:solidFill>
                <a:latin typeface="Helvetica Neue"/>
              </a:rPr>
              <a:t>.NET SDK v3→v4 has a </a:t>
            </a:r>
            <a:r>
              <a:rPr sz="1600" b="1" i="0">
                <a:solidFill>
                  <a:srgbClr val="000000"/>
                </a:solidFill>
                <a:latin typeface="Helvetica Neue"/>
              </a:rPr>
              <a:t>3-month maintenance window</a:t>
            </a:r>
            <a:r>
              <a:rPr sz="1600" b="0" i="0">
                <a:solidFill>
                  <a:srgbClr val="555555"/>
                </a:solidFill>
                <a:latin typeface="Helvetica Neue"/>
              </a:rPr>
              <a:t> vs the 12-month default. The trend is accelerating.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03504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AAAAA"/>
                </a:solidFill>
                <a:latin typeface="Helvetica Neue"/>
              </a:rPr>
              <a:t>Source: AWS SDKs and Tools maintenance policy, March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99999"/>
                </a:solidFill>
                <a:latin typeface="Helvetica Neue"/>
              </a:rPr>
              <a:t>THE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11111"/>
                </a:solidFill>
                <a:latin typeface="Helvetica Neue"/>
              </a:rPr>
              <a:t>One source. Six backends. Zero drift.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55555"/>
                </a:solidFill>
                <a:latin typeface="Helvetica Neue"/>
              </a:rPr>
              <a:t>Temper compiles a single source tree to idiomatic output in 6 languages. Not transpilation — native, typed, importable libraries.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109728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555555"/>
                </a:solidFill>
                <a:latin typeface="Helvetica Neue"/>
              </a:rPr>
              <a:t>Temper 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1952" y="246888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AAAAAA"/>
                </a:solidFill>
                <a:latin typeface="Helvetica Neue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2176272" y="2468880"/>
            <a:ext cx="109728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555555"/>
                </a:solidFill>
                <a:latin typeface="Helvetica Neue"/>
              </a:rPr>
              <a:t>temper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6704" y="246888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AAAAAA"/>
                </a:solidFill>
                <a:latin typeface="Helvetica Neue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621024" y="2468880"/>
            <a:ext cx="109728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555555"/>
                </a:solidFill>
                <a:latin typeface="Helvetica Neue"/>
              </a:rPr>
              <a:t>ES Modules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91456" y="2468880"/>
            <a:ext cx="109728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555555"/>
                </a:solidFill>
                <a:latin typeface="Helvetica Neue"/>
              </a:rPr>
              <a:t>Python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61888" y="2468880"/>
            <a:ext cx="109728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555555"/>
                </a:solidFill>
                <a:latin typeface="Helvetica Neue"/>
              </a:rPr>
              <a:t>Cargo Crate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2468880"/>
            <a:ext cx="109728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555555"/>
                </a:solidFill>
                <a:latin typeface="Helvetica Neue"/>
              </a:rPr>
              <a:t>Java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02752" y="2468880"/>
            <a:ext cx="109728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555555"/>
                </a:solidFill>
                <a:latin typeface="Helvetica Neue"/>
              </a:rPr>
              <a:t>Lua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73184" y="2468880"/>
            <a:ext cx="109728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555555"/>
                </a:solidFill>
                <a:latin typeface="Helvetica Neue"/>
              </a:rPr>
              <a:t>.NET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200400"/>
            <a:ext cx="512064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383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11111"/>
                </a:solidFill>
                <a:latin typeface="Helvetica Neue"/>
              </a:rPr>
              <a:t>What Smithy does for AWS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84048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55555"/>
                </a:solidFill>
                <a:latin typeface="Helvetica Neue"/>
              </a:rPr>
              <a:t>—  Generates API clients from models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55555"/>
                </a:solidFill>
                <a:latin typeface="Helvetica Neue"/>
              </a:rPr>
              <a:t>—  Still requires per-language runtime teams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55555"/>
                </a:solidFill>
                <a:latin typeface="Helvetica Neue"/>
              </a:rPr>
              <a:t>—  Security fixes need per-SDK patching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55555"/>
                </a:solidFill>
                <a:latin typeface="Helvetica Neue"/>
              </a:rPr>
              <a:t>—  Multi-year major version migrations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200400"/>
            <a:ext cx="512064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3383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11111"/>
                </a:solidFill>
                <a:latin typeface="Helvetica Neue"/>
              </a:rPr>
              <a:t>What Temper does better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84048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55555"/>
                </a:solidFill>
                <a:latin typeface="Helvetica Neue"/>
              </a:rPr>
              <a:t>—  Compiles arbitrary logic, not just API shapes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55555"/>
                </a:solidFill>
                <a:latin typeface="Helvetica Neue"/>
              </a:rPr>
              <a:t>—  One codebase = one security surface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55555"/>
                </a:solidFill>
                <a:latin typeface="Helvetica Neue"/>
              </a:rPr>
              <a:t>—  Fix once, rebuild, done everywhere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55555"/>
                </a:solidFill>
                <a:latin typeface="Helvetica Neue"/>
              </a:rPr>
              <a:t>—  Same-day propagation to all backends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99999"/>
                </a:solidFill>
                <a:latin typeface="Helvetica Neue"/>
              </a:rPr>
              <a:t>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11111"/>
                </a:solidFill>
                <a:latin typeface="Helvetica Neue"/>
              </a:rPr>
              <a:t>A type-safe SQL ORM, running in 6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55555"/>
                </a:solidFill>
                <a:latin typeface="Helvetica Neue"/>
              </a:rPr>
              <a:t>We built a security-focused ORM with 5 defense layers against SQL injection, compiled it to 6 backends, and built 6 identical todo-list apps to prove it works.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377440"/>
          <a:ext cx="10728654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360304"/>
                <a:gridCol w="4076888"/>
                <a:gridCol w="2145731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999999"/>
                          </a:solidFill>
                          <a:latin typeface="Helvetica Neue"/>
                        </a:rPr>
                        <a:t>Language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999999"/>
                          </a:solidFill>
                          <a:latin typeface="Helvetica Neue"/>
                        </a:rPr>
                        <a:t>Framework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999999"/>
                          </a:solidFill>
                          <a:latin typeface="Helvetica Neue"/>
                        </a:rPr>
                        <a:t>ORM Import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999999"/>
                          </a:solidFill>
                          <a:latin typeface="Helvetica Neue"/>
                        </a:rPr>
                        <a:t>SQL Injection Vulns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JavaScript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Express + EJS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from 'orm/src'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Python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Flask + Jinja2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from orm.src import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Rust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Axum + askama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use orm::src::{...}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Spring Boot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import orm.src.*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Lua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Raw socket HTTP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require("orm/src")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C#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ASP.NET Razor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using Orm.Src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03504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AAAAA"/>
                </a:solidFill>
                <a:latin typeface="Helvetica Neue"/>
              </a:rPr>
              <a:t>Full MITRE ATT&amp;CK / CWE analysis conducted per app. Reports published in each app repository.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99999"/>
                </a:solidFill>
                <a:latin typeface="Helvetica Neue"/>
              </a:rPr>
              <a:t>SECURITY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11111"/>
                </a:solidFill>
                <a:latin typeface="Helvetica Neue"/>
              </a:rPr>
              <a:t>5 compile-time defense layers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828800"/>
          <a:ext cx="10728652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2"/>
                <a:gridCol w="1931157"/>
                <a:gridCol w="1287438"/>
                <a:gridCol w="6973625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999999"/>
                          </a:solidFill>
                          <a:latin typeface="Helvetica Neue"/>
                        </a:rPr>
                        <a:t>#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999999"/>
                          </a:solidFill>
                          <a:latin typeface="Helvetica Neue"/>
                        </a:rPr>
                        <a:t>Layer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999999"/>
                          </a:solidFill>
                          <a:latin typeface="Helvetica Neue"/>
                        </a:rPr>
                        <a:t>CWE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999999"/>
                          </a:solidFill>
                          <a:latin typeface="Helvetica Neue"/>
                        </a:rPr>
                        <a:t>What It Prevents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SafeIdentifier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CWE-89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Table/column name injection. Regex-validated, sealed class not exported.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Typed SqlPart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CWE-89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Value injection. Sealed interface with exhaustive type dispatch.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SqlBuilder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CWE-89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Structural injection. No appendRaw. Structure and data strictly separated.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Changeset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CWE-915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Mass assignment. cast() requires List&lt;SafeIdentifier&gt;.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Query Builder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CWE-400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Unbounded queries. WHERE accepts only SqlFragment.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120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55555"/>
                </a:solidFill>
                <a:latin typeface="Helvetica Neue"/>
              </a:rPr>
              <a:t>These defenses are structural, not advisory. The type system makes it impossible to construct unsafe SQL without deliberately circumventing the API.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99999"/>
                </a:solidFill>
                <a:latin typeface="Helvetica Neue"/>
              </a:rPr>
              <a:t>FIX ONCE, FIX EVERYWHERE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11111"/>
                </a:solidFill>
                <a:latin typeface="Helvetica Neue"/>
              </a:rPr>
              <a:t>3 findings. 1 commit. 6 backends patched.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55555"/>
                </a:solidFill>
                <a:latin typeface="Helvetica Neue"/>
              </a:rPr>
              <a:t>MITRE analysis identified 3 ORM-level concerns. We fixed all 3 in one Temper commit and rebuilt.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286000"/>
          <a:ext cx="1072865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2865"/>
                <a:gridCol w="1072865"/>
                <a:gridCol w="3433169"/>
                <a:gridCol w="3218596"/>
                <a:gridCol w="1931157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999999"/>
                          </a:solidFill>
                          <a:latin typeface="Helvetica Neue"/>
                        </a:rPr>
                        <a:t>Finding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999999"/>
                          </a:solidFill>
                          <a:latin typeface="Helvetica Neue"/>
                        </a:rPr>
                        <a:t>Severity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999999"/>
                          </a:solidFill>
                          <a:latin typeface="Helvetica Neue"/>
                        </a:rPr>
                        <a:t>Issue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999999"/>
                          </a:solidFill>
                          <a:latin typeface="Helvetica Neue"/>
                        </a:rPr>
                        <a:t>Fix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999999"/>
                          </a:solidFill>
                          <a:latin typeface="Helvetica Neue"/>
                        </a:rPr>
                        <a:t>Status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ORM-1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Column names passed as String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Routed through SafeIdentifier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Resolved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ORM-2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SqlDate missing quote escaping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Char-by-char escaping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Resolved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ORM-3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SqlFloat64 produces NaN/Infinity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Renders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Resolved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ORM-4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Info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Escaping-based, not parameterized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Design limitation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Acknowledged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4389120"/>
            <a:ext cx="10728655" cy="1097280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i="0">
                <a:solidFill>
                  <a:srgbClr val="AAAAAA"/>
                </a:solidFill>
                <a:latin typeface="Courier New"/>
              </a:rPr>
              <a:t>// One change in Temper source (changeset.temper.md)</a:t>
            </a:r>
          </a:p>
          <a:p>
            <a:r>
              <a:rPr sz="1100" b="0" i="0">
                <a:solidFill>
                  <a:srgbClr val="AAAAAA"/>
                </a:solidFill>
                <a:latin typeface="Courier New"/>
              </a:rPr>
              <a:t>colNames.add(pair.key);</a:t>
            </a:r>
            <a:r>
              <a:rPr sz="1100" b="0" i="0">
                <a:solidFill>
                  <a:srgbClr val="AAAAAA"/>
                </a:solidFill>
                <a:latin typeface="Courier New"/>
              </a:rPr>
              <a:t>           // raw String</a:t>
            </a:r>
          </a:p>
          <a:p>
            <a:r>
              <a:rPr sz="1100" b="1" i="0">
                <a:solidFill>
                  <a:srgbClr val="000000"/>
                </a:solidFill>
                <a:latin typeface="Courier New"/>
              </a:rPr>
              <a:t>colNames.add(fd.name.sqlValue);</a:t>
            </a:r>
            <a:r>
              <a:rPr sz="1100" b="0" i="0">
                <a:solidFill>
                  <a:srgbClr val="555555"/>
                </a:solidFill>
                <a:latin typeface="Courier New"/>
              </a:rPr>
              <a:t>   // SafeIdentifier → validated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555555"/>
                </a:solidFill>
                <a:latin typeface="Helvetica Neue"/>
              </a:rPr>
              <a:t/>
            </a:r>
            <a:r>
              <a:rPr sz="1600" b="0" i="0">
                <a:solidFill>
                  <a:srgbClr val="555555"/>
                </a:solidFill>
                <a:latin typeface="Helvetica Neue"/>
              </a:rPr>
              <a:t>Traditional multi-SDK: </a:t>
            </a:r>
            <a:r>
              <a:rPr sz="1600" b="1" i="0">
                <a:solidFill>
                  <a:srgbClr val="000000"/>
                </a:solidFill>
                <a:latin typeface="Helvetica Neue"/>
              </a:rPr>
              <a:t>6 PRs, 6 reviews, 6 releases</a:t>
            </a:r>
            <a:r>
              <a:rPr sz="1600" b="0" i="0">
                <a:solidFill>
                  <a:srgbClr val="555555"/>
                </a:solidFill>
                <a:latin typeface="Helvetica Neue"/>
              </a:rPr>
              <a:t>. Temper: </a:t>
            </a:r>
            <a:r>
              <a:rPr sz="1600" b="1" i="0">
                <a:solidFill>
                  <a:srgbClr val="000000"/>
                </a:solidFill>
                <a:latin typeface="Helvetica Neue"/>
              </a:rPr>
              <a:t>1 commit, 1 build, done.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99999"/>
                </a:solidFill>
                <a:latin typeface="Helvetica Neue"/>
              </a:rPr>
              <a:t>AI-GENERATED ORM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11111"/>
                </a:solidFill>
                <a:latin typeface="Helvetica Neue"/>
              </a:rPr>
              <a:t>Same prompts. Same goals. Different security.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55555"/>
                </a:solidFill>
                <a:latin typeface="Helvetica Neue"/>
              </a:rPr>
              <a:t>Two ORMs built with comparable AI prompts (3–4 prompts, same goals). One in Ruby, one in Temper. Both underwent identical MITRE/CWE analysis.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76323" y="23774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000000"/>
                </a:solidFill>
                <a:latin typeface="Helvetica Neue"/>
              </a:rPr>
              <a:t>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76323" y="3108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0000"/>
                </a:solidFill>
                <a:latin typeface="Helvetica Neue"/>
              </a:rPr>
              <a:t>SomeORM </a:t>
            </a:r>
            <a:r>
              <a:rPr sz="1800" b="0" i="0">
                <a:solidFill>
                  <a:srgbClr val="999999"/>
                </a:solidFill>
                <a:latin typeface="Helvetica Neue"/>
              </a:rPr>
              <a:t>(Ruby)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76323" y="34747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Helvetica Neue"/>
              </a:rPr>
              <a:t>CVSS 9.8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171" y="23774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000000"/>
                </a:solidFill>
                <a:latin typeface="Helvetica Neue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171" y="3108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0000"/>
                </a:solidFill>
                <a:latin typeface="Helvetica Neue"/>
              </a:rPr>
              <a:t>Generic ORM </a:t>
            </a:r>
            <a:r>
              <a:rPr sz="1800" b="0" i="0">
                <a:solidFill>
                  <a:srgbClr val="999999"/>
                </a:solidFill>
                <a:latin typeface="Helvetica Neue"/>
              </a:rPr>
              <a:t>(Temper)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171" y="34747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Helvetica Neue"/>
              </a:rPr>
              <a:t>0 injection vulnerabilities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1527" y="2560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DDDDDD"/>
                </a:solidFill>
                <a:latin typeface="Helvetica Neue"/>
              </a:rPr>
              <a:t>vs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4023360"/>
          <a:ext cx="10728654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8596"/>
                <a:gridCol w="3755029"/>
                <a:gridCol w="3755029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999999"/>
                          </a:solidFill>
                          <a:latin typeface="Helvetica Neue"/>
                        </a:rPr>
                        <a:t>Metric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999999"/>
                          </a:solidFill>
                          <a:latin typeface="Helvetica Neue"/>
                        </a:rPr>
                        <a:t>SomeORM (Ruby)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999999"/>
                          </a:solidFill>
                          <a:latin typeface="Helvetica Neue"/>
                        </a:rPr>
                        <a:t>Generic ORM (Temper)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SQL injection vulnerabilities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9 critical/high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Identifier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None — direct interpolation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SafeIdentifier sealed type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Value escaping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Single-quote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Typed SqlPart hierarchy (6 types)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Mass assignment protection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Changeset cast() whitelist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Languages supported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Fix propagation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Manual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Automatic — 1 commit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99999"/>
                </a:solidFill>
                <a:latin typeface="Helvetica Neue"/>
              </a:rPr>
              <a:t>CONVENTIONAL ORM: 9 ATTACK VECTORS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11111"/>
                </a:solidFill>
                <a:latin typeface="Helvetica Neue"/>
              </a:rPr>
              <a:t>What AI-generated code looks like without Temper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737360"/>
          <a:ext cx="10728652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146"/>
                <a:gridCol w="965578"/>
                <a:gridCol w="2360304"/>
                <a:gridCol w="751005"/>
                <a:gridCol w="6222619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999999"/>
                          </a:solidFill>
                          <a:latin typeface="Helvetica Neue"/>
                        </a:rPr>
                        <a:t>#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999999"/>
                          </a:solidFill>
                          <a:latin typeface="Helvetica Neue"/>
                        </a:rPr>
                        <a:t>CWE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999999"/>
                          </a:solidFill>
                          <a:latin typeface="Helvetica Neue"/>
                        </a:rPr>
                        <a:t>Attack Surface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999999"/>
                          </a:solidFill>
                          <a:latin typeface="Helvetica Neue"/>
                        </a:rPr>
                        <a:t>CVSS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999999"/>
                          </a:solidFill>
                          <a:latin typeface="Helvetica Neue"/>
                        </a:rPr>
                        <a:t>Exploit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CWE-89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Table name injection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9.8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from("users; DROP TABLE users; --")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CWE-89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SELECT field injection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9.1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select("(SELECT password FROM admin)")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CWE-89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WHERE raw SQL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9.8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where("id = #{user_input}")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CWE-89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Comparison field injection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8.6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eq("id) OR 1=1; --",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CWE-89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GROUP BY injection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8.1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group_by("user_id; DROP TABLE")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CWE-89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ORDER BY injection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8.1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order_by("id; DROP TABLE")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CWE-89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Direction injection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order_by("id", direction: "ASC; --")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CWE-20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LIMIT type confusion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limit("10; DROP TABLE")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CWE-116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Incomplete escaping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6.5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55555"/>
                          </a:solidFill>
                          <a:latin typeface="Helvetica Neue"/>
                        </a:rPr>
                        <a:t>Backslash, NULL byte, encoding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7607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555555"/>
                </a:solidFill>
                <a:latin typeface="Helvetica Neue"/>
              </a:rPr>
              <a:t/>
            </a:r>
            <a:r>
              <a:rPr sz="1600" b="0" i="0">
                <a:solidFill>
                  <a:srgbClr val="555555"/>
                </a:solidFill>
                <a:latin typeface="Helvetica Neue"/>
              </a:rPr>
              <a:t>Every one of these is </a:t>
            </a:r>
            <a:r>
              <a:rPr sz="1600" b="1" i="0">
                <a:solidFill>
                  <a:srgbClr val="000000"/>
                </a:solidFill>
                <a:latin typeface="Helvetica Neue"/>
              </a:rPr>
              <a:t>structurally impossible</a:t>
            </a:r>
            <a:r>
              <a:rPr sz="1600" b="0" i="0">
                <a:solidFill>
                  <a:srgbClr val="555555"/>
                </a:solidFill>
                <a:latin typeface="Helvetica Neue"/>
              </a:rPr>
              <a:t> in the Temper ORM. Prevented by the type system, not developer discipline.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99999"/>
                </a:solidFill>
                <a:latin typeface="Helvetica Neue"/>
              </a:rPr>
              <a:t>AI-FIRST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11111"/>
                </a:solidFill>
                <a:latin typeface="Helvetica Neue"/>
              </a:rPr>
              <a:t>Temper makes AI-generated code secure by default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55555"/>
                </a:solidFill>
                <a:latin typeface="Helvetica Neue"/>
              </a:rPr>
              <a:t>The question is not whether AI writes your code. It is whether the language constrains AI to produce safe output.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377440"/>
            <a:ext cx="512064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5603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11111"/>
                </a:solidFill>
                <a:latin typeface="Helvetica Neue"/>
              </a:rPr>
              <a:t>Without Temper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55555"/>
                </a:solidFill>
                <a:latin typeface="Helvetica Neue"/>
              </a:rPr>
              <a:t>—  AI generates plausible but insecure SQL builders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55555"/>
                </a:solidFill>
                <a:latin typeface="Helvetica Neue"/>
              </a:rPr>
              <a:t>—  String concatenation is the path of least resistance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55555"/>
                </a:solidFill>
                <a:latin typeface="Helvetica Neue"/>
              </a:rPr>
              <a:t>—  Escaping bugs are subtle and language-specific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55555"/>
                </a:solidFill>
                <a:latin typeface="Helvetica Neue"/>
              </a:rPr>
              <a:t>—  Each language needs independent security review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55555"/>
                </a:solidFill>
                <a:latin typeface="Helvetica Neue"/>
              </a:rPr>
              <a:t>—  9 critical vulns from 3–4 prompts (SomeORM)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377440"/>
            <a:ext cx="512064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5603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11111"/>
                </a:solidFill>
                <a:latin typeface="Helvetica Neue"/>
              </a:rPr>
              <a:t>With Temper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301752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55555"/>
                </a:solidFill>
                <a:latin typeface="Helvetica Neue"/>
              </a:rPr>
              <a:t>—  Type system prevents unsafe SQL construction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55555"/>
                </a:solidFill>
                <a:latin typeface="Helvetica Neue"/>
              </a:rPr>
              <a:t>—  SafeIdentifier + sealed interfaces = no bypass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55555"/>
                </a:solidFill>
                <a:latin typeface="Helvetica Neue"/>
              </a:rPr>
              <a:t>—  AI cannot accidentally skip validation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55555"/>
                </a:solidFill>
                <a:latin typeface="Helvetica Neue"/>
              </a:rPr>
              <a:t>—  One security review covers all 6 backends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55555"/>
                </a:solidFill>
                <a:latin typeface="Helvetica Neue"/>
              </a:rPr>
              <a:t>—  0 vulnerabilities from same-effort prompts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303520"/>
            <a:ext cx="36576" cy="64008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303520"/>
            <a:ext cx="105000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999999"/>
                </a:solidFill>
                <a:latin typeface="Helvetica Neue"/>
              </a:rPr>
              <a:t>The best security does not depend on the developer — or the AI — remembering to do the right thing. Temper makes the wrong thing impossible to express.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99999"/>
                </a:solidFill>
                <a:latin typeface="Helvetica Neue"/>
              </a:rPr>
              <a:t>AT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11111"/>
                </a:solidFill>
                <a:latin typeface="Helvetica Neue"/>
              </a:rPr>
              <a:t>What if SDK security was a single source of truth?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000000"/>
                </a:solidFill>
                <a:latin typeface="Helvetica Neue"/>
              </a:rPr>
              <a:t>3,600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999999"/>
                </a:solidFill>
                <a:latin typeface="Helvetica Neue"/>
              </a:rPr>
              <a:t>libraries to patch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0" y="219456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DDDDDD"/>
                </a:solidFill>
                <a:latin typeface="Helvetica Neue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201168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000000"/>
                </a:solidFill>
                <a:latin typeface="Helvetica Neue"/>
              </a:rPr>
              <a:t>300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999999"/>
                </a:solidFill>
                <a:latin typeface="Helvetica Neue"/>
              </a:rPr>
              <a:t>Temper sources to maintain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55555"/>
                </a:solidFill>
                <a:latin typeface="Helvetica Neue"/>
              </a:rPr>
              <a:t>AWS manages 300+ services across 12 languages. A single vulnerability requires coordinated patches across: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97680"/>
            <a:ext cx="105457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555555"/>
                </a:solidFill>
                <a:latin typeface="Helvetica Neue"/>
              </a:rPr>
              <a:t>—  12 SDK repositories with independent release cycles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555555"/>
                </a:solidFill>
                <a:latin typeface="Helvetica Neue"/>
              </a:rPr>
              <a:t>—  8+ package registries (npm, PyPI, Maven, NuGet, crates.io, RubyGems, Packagist, Go proxy)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555555"/>
                </a:solidFill>
                <a:latin typeface="Helvetica Neue"/>
              </a:rPr>
              <a:t>—  Daily releases that must be synchronized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86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555555"/>
                </a:solidFill>
                <a:latin typeface="Helvetica Neue"/>
              </a:rPr>
              <a:t/>
            </a:r>
            <a:r>
              <a:rPr sz="1600" b="0" i="0">
                <a:solidFill>
                  <a:srgbClr val="555555"/>
                </a:solidFill>
                <a:latin typeface="Helvetica Neue"/>
              </a:rPr>
              <a:t>With Temper, security logic lives in </a:t>
            </a:r>
            <a:r>
              <a:rPr sz="1600" b="1" i="0">
                <a:solidFill>
                  <a:srgbClr val="000000"/>
                </a:solidFill>
                <a:latin typeface="Helvetica Neue"/>
              </a:rPr>
              <a:t>one place</a:t>
            </a:r>
            <a:r>
              <a:rPr sz="1600" b="0" i="0">
                <a:solidFill>
                  <a:srgbClr val="555555"/>
                </a:solidFill>
                <a:latin typeface="Helvetica Neue"/>
              </a:rPr>
              <a:t>. A fix compiles to all targets in a single build. No coordination. No drift.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99999"/>
                </a:solidFill>
                <a:latin typeface="Helvetica Neue"/>
              </a:rPr>
              <a:t>BEYOND THIS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11111"/>
                </a:solidFill>
                <a:latin typeface="Helvetica Neue"/>
              </a:rPr>
              <a:t>Where Temper changes the game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51206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0116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11111"/>
                </a:solidFill>
                <a:latin typeface="Helvetica Neue"/>
              </a:rPr>
              <a:t>SDK Libraries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4688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55555"/>
                </a:solidFill>
                <a:latin typeface="Helvetica Neue"/>
              </a:rPr>
              <a:t>API clients, serialization, auth flows, retry logic — write once, ship to every language your customers use.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828800"/>
            <a:ext cx="51206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20116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11111"/>
                </a:solidFill>
                <a:latin typeface="Helvetica Neue"/>
              </a:rPr>
              <a:t>Security Primitives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4688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55555"/>
                </a:solidFill>
                <a:latin typeface="Helvetica Neue"/>
              </a:rPr>
              <a:t>Crypto wrappers, input validators, token parsers — the code that must be correct everywhere gets one audit, not twelve.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931920"/>
            <a:ext cx="51206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11480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11111"/>
                </a:solidFill>
                <a:latin typeface="Helvetica Neue"/>
              </a:rPr>
              <a:t>Data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57200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55555"/>
                </a:solidFill>
                <a:latin typeface="Helvetica Neue"/>
              </a:rPr>
              <a:t>Schema validators, sanitizers, format parsers — consistent behavior across frontend, backend, and systems languages.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3931920"/>
            <a:ext cx="51206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411480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11111"/>
                </a:solidFill>
                <a:latin typeface="Helvetica Neue"/>
              </a:rPr>
              <a:t>AI-Safe Foundations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57200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55555"/>
                </a:solidFill>
                <a:latin typeface="Helvetica Neue"/>
              </a:rPr>
              <a:t>Typed guardrails that prevent entire categories of bugs regardless of what generates the code — human or AI.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11111"/>
                </a:solidFill>
                <a:latin typeface="Helvetica Neue"/>
              </a:rPr>
              <a:t>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3767" y="137160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000000"/>
                </a:solidFill>
                <a:latin typeface="Helvetica Neue"/>
              </a:rPr>
              <a:t>0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999999"/>
                </a:solidFill>
                <a:latin typeface="Helvetica Neue"/>
              </a:rPr>
              <a:t>SQL injection vulnerabilities
across 6 backends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58487" y="137160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000000"/>
                </a:solidFill>
                <a:latin typeface="Helvetica Neue"/>
              </a:rPr>
              <a:t>1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999999"/>
                </a:solidFill>
                <a:latin typeface="Helvetica Neue"/>
              </a:rPr>
              <a:t>commit to fix 3 findings
in all 6 languages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33207" y="137160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000000"/>
                </a:solidFill>
                <a:latin typeface="Helvetica Neue"/>
              </a:rPr>
              <a:t>56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999999"/>
                </a:solidFill>
                <a:latin typeface="Helvetica Neue"/>
              </a:rPr>
              <a:t>tests passing
after remediation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3767" y="320040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000000"/>
                </a:solidFill>
                <a:latin typeface="Helvetica Neue"/>
              </a:rPr>
              <a:t>9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999999"/>
                </a:solidFill>
                <a:latin typeface="Helvetica Neue"/>
              </a:rPr>
              <a:t>critical vulns in conventional
AI-generated 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58487" y="320040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000000"/>
                </a:solidFill>
                <a:latin typeface="Helvetica Neue"/>
              </a:rPr>
              <a:t>6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999999"/>
                </a:solidFill>
                <a:latin typeface="Helvetica Neue"/>
              </a:rPr>
              <a:t>language targets
from single 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33207" y="320040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000000"/>
                </a:solidFill>
                <a:latin typeface="Helvetica Neue"/>
              </a:rPr>
              <a:t>5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999999"/>
                </a:solidFill>
                <a:latin typeface="Helvetica Neue"/>
              </a:rPr>
              <a:t>compile-time
defense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999999"/>
                </a:solidFill>
                <a:latin typeface="Helvetica Neue"/>
              </a:rPr>
              <a:t>Temper does not just reduce development surface area.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864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</a:rPr>
              <a:t>It makes security a compile-time guarantee, not a runtime hope.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179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AAAA"/>
                </a:solidFill>
                <a:latin typeface="Helvetica Neue"/>
              </a:rPr>
              <a:t>github.com/temperlang/temper</a:t>
            </a:r>
            <a:r>
              <a:rPr sz="1100" b="0" i="0">
                <a:solidFill>
                  <a:srgbClr val="AAAAAA"/>
                </a:solidFill>
                <a:latin typeface="Helvetica Neue"/>
              </a:rPr>
              <a:t>  •  </a:t>
            </a:r>
            <a:r>
              <a:rPr sz="1100" b="0" i="0">
                <a:solidFill>
                  <a:srgbClr val="AAAAAA"/>
                </a:solidFill>
                <a:latin typeface="Helvetica Neue"/>
              </a:rPr>
              <a:t>github.com/notactuallytreyanastasio/generic_orm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